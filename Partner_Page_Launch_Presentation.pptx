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ae7b4ed2dc4929" /><Relationship Type="http://schemas.openxmlformats.org/officeDocument/2006/relationships/extended-properties" Target="/docProps/app.xml" Id="Rd689cf1b11cb4be9" /><Relationship Type="http://schemas.openxmlformats.org/officeDocument/2006/relationships/officeDocument" Target="/ppt/presentation.xml" Id="Rf5b4d4765b8b4f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ff4db8b906471d"/>
  </p:sldMasterIdLst>
  <p:notesMasterIdLst>
    <p:notesMasterId xmlns:r="http://schemas.openxmlformats.org/officeDocument/2006/relationships" r:id="R476c5d65a5ef40ed"/>
  </p:notesMasterIdLst>
  <p:sldIdLst>
    <p:sldId xmlns:r="http://schemas.openxmlformats.org/officeDocument/2006/relationships" id="256" r:id="R24d3d6291b194491"/>
    <p:sldId xmlns:r="http://schemas.openxmlformats.org/officeDocument/2006/relationships" id="257" r:id="Rf1c3209b46bd471a"/>
    <p:sldId xmlns:r="http://schemas.openxmlformats.org/officeDocument/2006/relationships" id="258" r:id="Reef0e47cd82943e8"/>
    <p:sldId xmlns:r="http://schemas.openxmlformats.org/officeDocument/2006/relationships" id="259" r:id="Rca4940abea894dcc"/>
    <p:sldId xmlns:r="http://schemas.openxmlformats.org/officeDocument/2006/relationships" id="260" r:id="R4a90543dfe0a45dd"/>
    <p:sldId xmlns:r="http://schemas.openxmlformats.org/officeDocument/2006/relationships" id="261" r:id="Reabda63a90094e79"/>
    <p:sldId xmlns:r="http://schemas.openxmlformats.org/officeDocument/2006/relationships" id="262" r:id="Rbde3a393034e4121"/>
    <p:sldId xmlns:r="http://schemas.openxmlformats.org/officeDocument/2006/relationships" id="263" r:id="R89a103d2cdf243c8"/>
    <p:sldId xmlns:r="http://schemas.openxmlformats.org/officeDocument/2006/relationships" id="264" r:id="R5f314fecece84a02"/>
    <p:sldId xmlns:r="http://schemas.openxmlformats.org/officeDocument/2006/relationships" id="265" r:id="R6dacd3a120b14d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64334a5f3045db" /><Relationship Type="http://schemas.openxmlformats.org/officeDocument/2006/relationships/slideMaster" Target="/ppt/slideMasters/slideMaster1.xml" Id="Rf7ff4db8b906471d" /><Relationship Type="http://schemas.openxmlformats.org/officeDocument/2006/relationships/notesMaster" Target="/ppt/notesMasters/notesMaster1.xml" Id="R476c5d65a5ef40ed" /><Relationship Type="http://schemas.openxmlformats.org/officeDocument/2006/relationships/presProps" Target="/ppt/presProps.xml" Id="R20916d761e7643a5" /><Relationship Type="http://schemas.openxmlformats.org/officeDocument/2006/relationships/tableStyles" Target="/ppt/tableStyles.xml" Id="Rcb95c3eaf6804324" /><Relationship Type="http://schemas.openxmlformats.org/officeDocument/2006/relationships/slide" Target="/ppt/slides/slide1.xml" Id="R24d3d6291b194491" /><Relationship Type="http://schemas.openxmlformats.org/officeDocument/2006/relationships/slide" Target="/ppt/slides/slide2.xml" Id="Rf1c3209b46bd471a" /><Relationship Type="http://schemas.openxmlformats.org/officeDocument/2006/relationships/slide" Target="/ppt/slides/slide3.xml" Id="Reef0e47cd82943e8" /><Relationship Type="http://schemas.openxmlformats.org/officeDocument/2006/relationships/slide" Target="/ppt/slides/slide4.xml" Id="Rca4940abea894dcc" /><Relationship Type="http://schemas.openxmlformats.org/officeDocument/2006/relationships/slide" Target="/ppt/slides/slide5.xml" Id="R4a90543dfe0a45dd" /><Relationship Type="http://schemas.openxmlformats.org/officeDocument/2006/relationships/slide" Target="/ppt/slides/slide6.xml" Id="Reabda63a90094e79" /><Relationship Type="http://schemas.openxmlformats.org/officeDocument/2006/relationships/slide" Target="/ppt/slides/slide7.xml" Id="Rbde3a393034e4121" /><Relationship Type="http://schemas.openxmlformats.org/officeDocument/2006/relationships/slide" Target="/ppt/slides/slide8.xml" Id="R89a103d2cdf243c8" /><Relationship Type="http://schemas.openxmlformats.org/officeDocument/2006/relationships/slide" Target="/ppt/slides/slide9.xml" Id="R5f314fecece84a02" /><Relationship Type="http://schemas.openxmlformats.org/officeDocument/2006/relationships/slide" Target="/ppt/slides/slide10.xml" Id="R6dacd3a120b14d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042e9e04a649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c273c14b554f86" /><Relationship Type="http://schemas.openxmlformats.org/officeDocument/2006/relationships/notesMaster" Target="/ppt/notesMasters/notesMaster1.xml" Id="R27467400cd1c47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ecca994af0426e" /><Relationship Type="http://schemas.openxmlformats.org/officeDocument/2006/relationships/notesMaster" Target="/ppt/notesMasters/notesMaster1.xml" Id="R79680eae7ac645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abe2840ddb4f32" /><Relationship Type="http://schemas.openxmlformats.org/officeDocument/2006/relationships/notesMaster" Target="/ppt/notesMasters/notesMaster1.xml" Id="Rc78180f842984b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03441188a240cc" /><Relationship Type="http://schemas.openxmlformats.org/officeDocument/2006/relationships/notesMaster" Target="/ppt/notesMasters/notesMaster1.xml" Id="Re1936e4ce11342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b071e472444144" /><Relationship Type="http://schemas.openxmlformats.org/officeDocument/2006/relationships/notesMaster" Target="/ppt/notesMasters/notesMaster1.xml" Id="R432919f1bdaa4e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8dbe17c3f94975" /><Relationship Type="http://schemas.openxmlformats.org/officeDocument/2006/relationships/notesMaster" Target="/ppt/notesMasters/notesMaster1.xml" Id="Re208444947744e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5f1301dcf94ff2" /><Relationship Type="http://schemas.openxmlformats.org/officeDocument/2006/relationships/notesMaster" Target="/ppt/notesMasters/notesMaster1.xml" Id="R32cc139a40d94a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aae79dfeed4d06" /><Relationship Type="http://schemas.openxmlformats.org/officeDocument/2006/relationships/notesMaster" Target="/ppt/notesMasters/notesMaster1.xml" Id="R8c81d6d813db47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5f6b072cae4fe2" /><Relationship Type="http://schemas.openxmlformats.org/officeDocument/2006/relationships/notesMaster" Target="/ppt/notesMasters/notesMaster1.xml" Id="R3338226df9be47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414d59130343fc" /><Relationship Type="http://schemas.openxmlformats.org/officeDocument/2006/relationships/notesMaster" Target="/ppt/notesMasters/notesMaster1.xml" Id="Rded741b0faaa45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the partners as the launch itself—not as an audience being asked to admire a technical release.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 commit d7896011d31277d88eab93e43698d5a68ea5050a.</a:t>
            </a:r>
          </a:p>
          <a:p xmlns:a="http://schemas.openxmlformats.org/drawingml/2006/main">
            <a:r>
              <a:t>- Internal brand and character assets from public/images/brand and public/images/ai-team.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across the guest list slowly. The point is not that ten pages exist; it is that ten different partner identities are recognised without flattening them into one generic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source: src/content/partners.ts (ten partner archetypes and role names).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beats as a reveal. Then point to the real navigation capture and show how the partner identity is visible at the exact moment of entry.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src/components/site-header.tsx.</a:t>
            </a:r>
          </a:p>
          <a:p xmlns:a="http://schemas.openxmlformats.org/drawingml/2006/main">
            <a:r>
              <a:t>- Internal localhost QA capture: partners-dropdown-desktop.png, 12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audience through the four-part page journey. Stress that the final organisational view changes with the role, which is what makes the partner feel seen rather than templated.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src/components/partners/partner-page.tsx.</a:t>
            </a:r>
          </a:p>
          <a:p xmlns:a="http://schemas.openxmlformats.org/drawingml/2006/main">
            <a:r>
              <a:t>- Internal route example: src/routes/partner-with-housing-association.tsx.</a:t>
            </a:r>
          </a:p>
          <a:p xmlns:a="http://schemas.openxmlformats.org/drawingml/2006/main">
            <a:r>
              <a:t>- Internal localhost QA capture: partner-desktop-viewport.png, 12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row end to end, then let the audience scan the other two. The diagrams make the partner contribution explicit while keeping the outcome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source: src/content/partners.ts (Investor, Housing Association and Resident diagram definitions).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to reinforce that the resident is not a supply category. Each surrounding role stays distinct, and the value comes from coordination rather than role-blurring.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source: src/content/partners.ts (ten role descriptions and Resident positioning).</a:t>
            </a:r>
          </a:p>
          <a:p xmlns:a="http://schemas.openxmlformats.org/drawingml/2006/main">
            <a:r>
              <a:t>- The three-cluster interpretation is a presentation synthesis of the role descriptions, not a new operating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this interactive: ask the audience to name one archetype they want to follow. Use Housing Association if no one chooses, then advance to the worked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source: src/content/partners.ts (ten archetypes and dedicated routes).</a:t>
            </a:r>
          </a:p>
          <a:p xmlns:a="http://schemas.openxmlformats.org/drawingml/2006/main">
            <a:r>
              <a:t>- The supply/delivery/people grouping is an audience navigation device inferred from the role descriptions.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Housing Association path left to right. If the audience selected a different role, explain that the same page architecture swaps in that role's own inputs and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source: src/content/partners.ts (Housing Association diagram and all ten role-specific diagram definitions).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horizontal rail as the integration story: partners can enter through navigation, direct URLs, search discovery via the sitemap, or the footer directory.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implementation: src/components/site-header.tsx and src/components/site-footer.tsx.</a:t>
            </a:r>
          </a:p>
          <a:p xmlns:a="http://schemas.openxmlformats.org/drawingml/2006/main">
            <a:r>
              <a:t>- Internal implementation: src/routes/partner-with-*.tsx and src/routes/sitemap[.]xml.ts.</a:t>
            </a:r>
          </a:p>
          <a:p xmlns:a="http://schemas.openxmlformats.org/drawingml/2006/main">
            <a:r>
              <a:t>- Internal localhost QA captures: partners-dropdown-desktop.png and footer-partners-desktop.png, 12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promise. The platform now recognises ten partner identities, carries their impact logic through the site and holds together on desktop and mobile.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QA, 12 August 2026: all ten partner routes returned HTTP 200.</a:t>
            </a:r>
          </a:p>
          <a:p xmlns:a="http://schemas.openxmlformats.org/drawingml/2006/main">
            <a:r>
              <a:t>- Internal QA, 12 August 2026: desktop and mobile navigation and page layouts visually inspected.</a:t>
            </a:r>
          </a:p>
          <a:p xmlns:a="http://schemas.openxmlformats.org/drawingml/2006/main">
            <a:r>
              <a:t>- Internal localhost captures: partner-desktop-viewport.png and partners-mobile-menu-fixed.png.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b8037c2e348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60f658bb284218" /><Relationship Type="http://schemas.openxmlformats.org/officeDocument/2006/relationships/slideLayout" Target="/ppt/slideLayouts/slideLayout1.xml" Id="R5091d30e67174f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91d30e67174f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6ecf7aafd40cf" /><Relationship Type="http://schemas.openxmlformats.org/officeDocument/2006/relationships/image" Target="/ppt/media/image.bin" Id="R5ec1ff2c6fad4bb5" /><Relationship Type="http://schemas.openxmlformats.org/officeDocument/2006/relationships/image" Target="/ppt/media/image2.bin" Id="R504fd5bb85bf4266" /><Relationship Type="http://schemas.openxmlformats.org/officeDocument/2006/relationships/image" Target="/ppt/media/image3.bin" Id="Rdb9053c9901d40df" /><Relationship Type="http://schemas.openxmlformats.org/officeDocument/2006/relationships/image" Target="/ppt/media/image4.bin" Id="R20e8375e590f4639" /><Relationship Type="http://schemas.openxmlformats.org/officeDocument/2006/relationships/notesSlide" Target="/ppt/notesSlides/notesSlide1.xml" Id="R1536d60dcc3443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a443dabed423c" /><Relationship Type="http://schemas.openxmlformats.org/officeDocument/2006/relationships/notesSlide" Target="/ppt/notesSlides/notesSlide2.xml" Id="Radb83d11c8dc4b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99dfeb45243f4" /><Relationship Type="http://schemas.openxmlformats.org/officeDocument/2006/relationships/image" Target="/ppt/media/image.jpeg" Id="R6dc50df4ac4943b4" /><Relationship Type="http://schemas.openxmlformats.org/officeDocument/2006/relationships/notesSlide" Target="/ppt/notesSlides/notesSlide3.xml" Id="Rcdcdfa231e8042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8dcffcfe14303" /><Relationship Type="http://schemas.openxmlformats.org/officeDocument/2006/relationships/image" Target="/ppt/media/image2.jpeg" Id="R05afc9a12556432f" /><Relationship Type="http://schemas.openxmlformats.org/officeDocument/2006/relationships/notesSlide" Target="/ppt/notesSlides/notesSlide4.xml" Id="Rc0010e73f6df45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13f07070346de" /><Relationship Type="http://schemas.openxmlformats.org/officeDocument/2006/relationships/notesSlide" Target="/ppt/notesSlides/notesSlide5.xml" Id="R82a8d209889c42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6a720c0ce45c2" /><Relationship Type="http://schemas.openxmlformats.org/officeDocument/2006/relationships/notesSlide" Target="/ppt/notesSlides/notesSlide6.xml" Id="R08bafcd2a69447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85f5b75d649f0" /><Relationship Type="http://schemas.openxmlformats.org/officeDocument/2006/relationships/notesSlide" Target="/ppt/notesSlides/notesSlide7.xml" Id="Rb53385a01d9745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27c7af4e94c40" /><Relationship Type="http://schemas.openxmlformats.org/officeDocument/2006/relationships/notesSlide" Target="/ppt/notesSlides/notesSlide8.xml" Id="R89ba8279b19442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537da90334f96" /><Relationship Type="http://schemas.openxmlformats.org/officeDocument/2006/relationships/image" Target="/ppt/media/image3.jpeg" Id="R03cf8ccad17c462f" /><Relationship Type="http://schemas.openxmlformats.org/officeDocument/2006/relationships/image" Target="/ppt/media/image4.jpeg" Id="Ra56efe8109984ff1" /><Relationship Type="http://schemas.openxmlformats.org/officeDocument/2006/relationships/notesSlide" Target="/ppt/notesSlides/notesSlide9.xml" Id="R2d99b4fe475e46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2b2afb0b64f38" /><Relationship Type="http://schemas.openxmlformats.org/officeDocument/2006/relationships/image" Target="/ppt/media/image5.jpeg" Id="Reb2e86cf269f4fd5" /><Relationship Type="http://schemas.openxmlformats.org/officeDocument/2006/relationships/image" Target="/ppt/media/image6.jpeg" Id="R250bd3c4d1e94e09" /><Relationship Type="http://schemas.openxmlformats.org/officeDocument/2006/relationships/notesSlide" Target="/ppt/notesSlides/notesSlide10.xml" Id="R2bb36962051545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4B1FD-D056-4850-86F4-F2F91B88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1ff2c6fad4bb5"/>
          <a:stretch xmlns:a="http://schemas.openxmlformats.org/drawingml/2006/main"/>
        </p:blipFill>
        <p:spPr>
          <a:xfrm xmlns:a="http://schemas.openxmlformats.org/drawingml/2006/main">
            <a:off x="967653" y="400050"/>
            <a:ext cx="1436543" cy="533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07E70-CB7A-4299-BF8E-3E83C919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BAAA"/>
                </a:solidFill>
              </a:defRPr>
            </a:pPr>
            <a:r>
              <a:rPr sz="1200" b="1">
                <a:solidFill>
                  <a:srgbClr val="2FBAAA"/>
                </a:solidFill>
              </a:rPr>
              <a:t>PARTNER PAGE LAUNCH  ·  12 AUGUST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195A2-572F-4D1B-9869-EFC4D7C8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7716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Ten partners.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703E7-2D67-4604-ABB8-909B0D24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5146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7A29"/>
                </a:solidFill>
              </a:defRPr>
            </a:pPr>
            <a:r>
              <a:rPr sz="5100" b="1">
                <a:solidFill>
                  <a:srgbClr val="FF7A29"/>
                </a:solidFill>
              </a:rPr>
              <a:t>One essential network.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7BE3D-F660-401F-9185-9646FA32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6004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6D2E4"/>
                </a:solidFill>
              </a:defRPr>
            </a:pPr>
            <a:r>
              <a:rPr sz="1800" b="0">
                <a:solidFill>
                  <a:srgbClr val="C6D2E4"/>
                </a:solidFill>
              </a:rPr>
              <a:t>A launch designed to give every partner a visible, respected place in the platform.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B6196-B6FF-4A60-A9A9-4D86A4FD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1123950"/>
            <a:ext cx="3619500" cy="4476750"/>
          </a:xfrm>
          <a:prstGeom xmlns:a="http://schemas.openxmlformats.org/drawingml/2006/main" prst="roundRect">
            <a:avLst>
              <a:gd name="adj" fmla="val 8947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9525">
            <a:solidFill>
              <a:srgbClr val="143C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D2BD7-0F77-4E4D-9590-A799BCB9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5010150"/>
            <a:ext cx="3048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3C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FEA8E-7168-4E7D-BA59-6921BCF0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716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52"/>
          </a:solidFill>
          <a:ln xmlns:a="http://schemas.openxmlformats.org/drawingml/2006/main" w="9525">
            <a:solidFill>
              <a:srgbClr val="1779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8F882-4FD3-4B69-9149-E29BE43C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716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52"/>
          </a:solidFill>
          <a:ln xmlns:a="http://schemas.openxmlformats.org/drawingml/2006/main" w="9525">
            <a:solidFill>
              <a:srgbClr val="143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10A55-8B07-44EF-9094-903AA2A2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3716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52"/>
          </a:solidFill>
          <a:ln xmlns:a="http://schemas.openxmlformats.org/drawingml/2006/main" w="9525">
            <a:solidFill>
              <a:srgbClr val="17796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fd5bb85bf4266"/>
          <a:stretch xmlns:a="http://schemas.openxmlformats.org/drawingml/2006/main"/>
        </p:blipFill>
        <p:spPr>
          <a:xfrm xmlns:a="http://schemas.openxmlformats.org/drawingml/2006/main">
            <a:off x="7848600" y="1578210"/>
            <a:ext cx="1381125" cy="238713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053c9901d40df"/>
          <a:stretch xmlns:a="http://schemas.openxmlformats.org/drawingml/2006/main"/>
        </p:blipFill>
        <p:spPr>
          <a:xfrm xmlns:a="http://schemas.openxmlformats.org/drawingml/2006/main">
            <a:off x="8848725" y="1395565"/>
            <a:ext cx="1381125" cy="275242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8375e590f4639"/>
          <a:stretch xmlns:a="http://schemas.openxmlformats.org/drawingml/2006/main"/>
        </p:blipFill>
        <p:spPr>
          <a:xfrm xmlns:a="http://schemas.openxmlformats.org/drawingml/2006/main">
            <a:off x="9848850" y="1344782"/>
            <a:ext cx="1381125" cy="285398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C9D42-CC68-4B57-9FF3-A26E66D9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52197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A29"/>
                </a:solidFill>
              </a:defRPr>
            </a:pPr>
            <a:r>
              <a:rPr sz="1200" b="1">
                <a:solidFill>
                  <a:srgbClr val="FF7A29"/>
                </a:solidFill>
              </a:rPr>
              <a:t>FIND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25B26-D3A7-4ED0-98A1-3CF8EEE1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850" y="52197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BAAA"/>
                </a:solidFill>
              </a:defRPr>
            </a:pPr>
            <a:r>
              <a:rPr sz="1200" b="1">
                <a:solidFill>
                  <a:srgbClr val="2FBAAA"/>
                </a:solidFill>
              </a:rPr>
              <a:t>PRICE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1B1F2-EE69-4EC9-8E3A-E5D771EC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5550" y="52197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BAAA"/>
                </a:solidFill>
              </a:defRPr>
            </a:pPr>
            <a:r>
              <a:rPr sz="1200" b="1">
                <a:solidFill>
                  <a:srgbClr val="2FBAAA"/>
                </a:solidFill>
              </a:rPr>
              <a:t>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6EE8B-D1BE-42BF-93A4-2A1947F2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5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6D2E4"/>
                </a:solidFill>
              </a:defRPr>
            </a:pPr>
            <a:r>
              <a:rPr sz="975" b="1">
                <a:solidFill>
                  <a:srgbClr val="C6D2E4"/>
                </a:solidFill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6BDE7-790C-4347-BB41-D291C80A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BAAA"/>
                </a:solidFill>
              </a:defRPr>
            </a:pPr>
            <a:r>
              <a:rPr sz="900" b="1">
                <a:solidFill>
                  <a:srgbClr val="2FBAAA"/>
                </a:solidFill>
              </a:rPr>
              <a:t>SECTION 01  /  VIP WELCOME</a:t>
            </a:r>
          </a:p>
        </p:txBody>
      </p:sp>
    </p:spTree>
    <p:extLst>
      <p:ext uri="{BB962C8B-B14F-4D97-AF65-F5344CB8AC3E}">
        <p14:creationId xmlns:p14="http://schemas.microsoft.com/office/powerpoint/2010/main" val="1649345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F26DEA-9D51-4120-9BC9-2D6F717D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96F"/>
                </a:solidFill>
              </a:defRPr>
            </a:pPr>
            <a:r>
              <a:rPr sz="1050" b="1">
                <a:solidFill>
                  <a:srgbClr val="17796F"/>
                </a:solidFill>
              </a:rPr>
              <a:t>SECTION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DD4D0-B390-4FC3-8964-9D127447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289"/>
                </a:solidFill>
              </a:defRPr>
            </a:pPr>
            <a:r>
              <a:rPr sz="1050" b="1">
                <a:solidFill>
                  <a:srgbClr val="647289"/>
                </a:solidFill>
              </a:rPr>
              <a:t>VIP WELCOME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03BC3-DC6D-440B-B113-9B1F624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906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112B"/>
                </a:solidFill>
              </a:defRPr>
            </a:pPr>
            <a:r>
              <a:rPr sz="3450" b="1">
                <a:solidFill>
                  <a:srgbClr val="00112B"/>
                </a:solidFill>
              </a:rPr>
              <a:t>Partners are not a dropdown.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FDBB5-7078-43B1-BD39-20EBC73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5049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25400"/>
                </a:solidFill>
              </a:defRPr>
            </a:pPr>
            <a:r>
              <a:rPr sz="3450" b="1">
                <a:solidFill>
                  <a:srgbClr val="C25400"/>
                </a:solidFill>
              </a:rPr>
              <a:t>They are the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1E655-FA6E-4A50-AC6E-D0FC3B2F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343150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E5A6E"/>
                </a:solidFill>
              </a:defRPr>
            </a:pPr>
            <a:r>
              <a:rPr sz="1725" b="0">
                <a:solidFill>
                  <a:srgbClr val="4E5A6E"/>
                </a:solidFill>
              </a:rPr>
              <a:t>Every role now receives its own language, its own route and a visible place in the shared impact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11051-C92A-4263-911E-E0739F06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848100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8512A-98D0-4006-9AF7-A9E2A188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95750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112B"/>
                </a:solidFill>
              </a:defRPr>
            </a:pPr>
            <a:r>
              <a:rPr sz="1950" b="1">
                <a:solidFill>
                  <a:srgbClr val="00112B"/>
                </a:solidFill>
              </a:rPr>
              <a:t>A dedicated front door says: we built this with you in mind.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59FE2-985C-404F-93B8-02CAAAAE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876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96F"/>
                </a:solidFill>
              </a:defRPr>
            </a:pPr>
            <a:r>
              <a:rPr sz="1050" b="1">
                <a:solidFill>
                  <a:srgbClr val="17796F"/>
                </a:solidFill>
              </a:rPr>
              <a:t>THE NETWORK GUEST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AB0E1-7916-4220-8E7B-25AF1339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0" y="1219200"/>
            <a:ext cx="5029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79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9BBDC-26E1-4053-B936-605A0A30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5240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F6D98-F41E-4625-A6FF-88B05387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1504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112B"/>
                </a:solidFill>
              </a:defRPr>
            </a:pPr>
            <a:r>
              <a:rPr sz="1425" b="1">
                <a:solidFill>
                  <a:srgbClr val="00112B"/>
                </a:solidFill>
              </a:rPr>
              <a:t>Investor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774B1-28B9-4E1D-B875-78B3B875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0" y="1847850"/>
            <a:ext cx="2228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8551A-AD47-4511-AE14-E26A7AC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3050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9F3C4-4F73-406B-AE3D-21258CE0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2286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112B"/>
                </a:solidFill>
              </a:defRPr>
            </a:pPr>
            <a:r>
              <a:rPr sz="1425" b="1">
                <a:solidFill>
                  <a:srgbClr val="00112B"/>
                </a:solidFill>
              </a:rPr>
              <a:t>Landlord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47EF5-1574-4515-80F4-660A9DAD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0" y="2628900"/>
            <a:ext cx="2228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6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0CE76-0D53-4C1E-888B-651055A6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086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AD930-8913-415C-B3E7-FC884AB7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067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112B"/>
                </a:solidFill>
              </a:defRPr>
            </a:pPr>
            <a:r>
              <a:rPr sz="1425" b="1">
                <a:solidFill>
                  <a:srgbClr val="00112B"/>
                </a:solidFill>
              </a:rPr>
              <a:t>Developer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60D32-B7DF-4F64-B6EB-1B68D99B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0" y="3409950"/>
            <a:ext cx="2228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6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A5E58-1FA3-4D27-BCA1-E517C33C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867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922CF-7D84-4232-9C49-C116525A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8481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112B"/>
                </a:solidFill>
              </a:defRPr>
            </a:pPr>
            <a:r>
              <a:rPr sz="1275" b="1">
                <a:solidFill>
                  <a:srgbClr val="00112B"/>
                </a:solidFill>
              </a:rPr>
              <a:t>Housing Association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D6CEA-2284-40DA-B527-79CD4782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0" y="4191000"/>
            <a:ext cx="2228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6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53058-7426-417D-8866-118D85BA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6482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37B1C-D61A-4DEE-87CD-164189E9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4629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112B"/>
                </a:solidFill>
              </a:defRPr>
            </a:pPr>
            <a:r>
              <a:rPr sz="1425" b="1">
                <a:solidFill>
                  <a:srgbClr val="00112B"/>
                </a:solidFill>
              </a:rPr>
              <a:t>Local Authority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D190D-4F61-4C28-ABC6-1A614E7F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0" y="4972050"/>
            <a:ext cx="2228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6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D093D-7A61-41FE-BB06-47F8029A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15240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32BCF-F410-4554-B74A-234A2137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1504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112B"/>
                </a:solidFill>
              </a:defRPr>
            </a:pPr>
            <a:r>
              <a:rPr sz="1425" b="1">
                <a:solidFill>
                  <a:srgbClr val="00112B"/>
                </a:solidFill>
              </a:rPr>
              <a:t>Care Provider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7103A-01DB-4242-A261-94F1BFA8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1847850"/>
            <a:ext cx="2228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6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9CF65-5F0F-4006-8F79-9C05BDF9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23050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4B6222-2B8D-4F1E-A695-1C7829BD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2286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112B"/>
                </a:solidFill>
              </a:defRPr>
            </a:pPr>
            <a:r>
              <a:rPr sz="1425" b="1">
                <a:solidFill>
                  <a:srgbClr val="00112B"/>
                </a:solidFill>
              </a:rPr>
              <a:t>Support Provider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408FCE-D1A5-40C9-811F-D9372EB7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2628900"/>
            <a:ext cx="2228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6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9F0D59-35AC-4EA1-819A-83F8733E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30861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438B12-B17D-449E-8CC2-F9302F03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3067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112B"/>
                </a:solidFill>
              </a:defRPr>
            </a:pPr>
            <a:r>
              <a:rPr sz="1425" b="1">
                <a:solidFill>
                  <a:srgbClr val="00112B"/>
                </a:solidFill>
              </a:rPr>
              <a:t>Social Worker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49BD8B-262E-4D6E-8715-0862BEAD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3409950"/>
            <a:ext cx="2228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6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ECEAFD-86FD-4D10-BFFD-92BABAFB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38671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AED713-4BC6-4862-B270-43D8B32D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38481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112B"/>
                </a:solidFill>
              </a:defRPr>
            </a:pPr>
            <a:r>
              <a:rPr sz="1425" b="1">
                <a:solidFill>
                  <a:srgbClr val="00112B"/>
                </a:solidFill>
              </a:rPr>
              <a:t>Broker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4C1B0D-71E1-448B-9AC4-AF090FDD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4191000"/>
            <a:ext cx="2228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6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51D77D-B45F-4351-A711-97B6740E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46482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A29"/>
                </a:solidFill>
              </a:defRPr>
            </a:pPr>
            <a:r>
              <a:rPr sz="900" b="1">
                <a:solidFill>
                  <a:srgbClr val="FF7A29"/>
                </a:solidFill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0D7860-A98D-4484-98EA-1A68A2B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4629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A29"/>
                </a:solidFill>
              </a:defRPr>
            </a:pPr>
            <a:r>
              <a:rPr sz="1425" b="1">
                <a:solidFill>
                  <a:srgbClr val="FF7A29"/>
                </a:solidFill>
              </a:rPr>
              <a:t>Resident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2D9735-FC79-4C4C-9D82-EE46F19D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4972050"/>
            <a:ext cx="2228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E6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EB995C-E975-4FF9-BDF7-6688D7C7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5162550"/>
            <a:ext cx="106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500" b="1">
                <a:solidFill>
                  <a:srgbClr val="C25400"/>
                </a:solidFill>
              </a:defRPr>
            </a:pPr>
            <a:r>
              <a:rPr sz="4500" b="1">
                <a:solidFill>
                  <a:srgbClr val="C25400"/>
                </a:solidFill>
              </a:rPr>
              <a:t>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86E918-12D8-425B-AAD2-DEE2F3BC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875" y="57531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112B"/>
                </a:solidFill>
              </a:defRPr>
            </a:pPr>
            <a:r>
              <a:rPr sz="1350" b="1">
                <a:solidFill>
                  <a:srgbClr val="00112B"/>
                </a:solidFill>
              </a:rPr>
              <a:t>essential roles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6F3C98-7276-46C2-B9EE-9B394510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5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289"/>
                </a:solidFill>
              </a:defRPr>
            </a:pPr>
            <a:r>
              <a:rPr sz="975" b="1">
                <a:solidFill>
                  <a:srgbClr val="647289"/>
                </a:solidFill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F57DDA-062E-4205-8B54-705E1C9F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SECTION 01  /  VIP WELCOME</a:t>
            </a:r>
          </a:p>
        </p:txBody>
      </p:sp>
    </p:spTree>
    <p:extLst>
      <p:ext uri="{BB962C8B-B14F-4D97-AF65-F5344CB8AC3E}">
        <p14:creationId xmlns:p14="http://schemas.microsoft.com/office/powerpoint/2010/main" val="403691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1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D52D1-0473-4760-80E7-8936A8CE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BAAA"/>
                </a:solidFill>
              </a:defRPr>
            </a:pPr>
            <a:r>
              <a:rPr sz="1050" b="1">
                <a:solidFill>
                  <a:srgbClr val="2FBAAA"/>
                </a:solidFill>
              </a:rPr>
              <a:t>SECTION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0C1C1-16A9-4A93-BD64-FB49A4A7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D2E4"/>
                </a:solidFill>
              </a:defRPr>
            </a:pPr>
            <a:r>
              <a:rPr sz="1050" b="1">
                <a:solidFill>
                  <a:srgbClr val="C6D2E4"/>
                </a:solidFill>
              </a:rPr>
              <a:t>A FRONT DOOR FOR EVERY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01DB5-38EA-4FD3-88C4-7463F646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971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Your role now has a front door.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7519D-9DD6-45A7-80BB-D00D6610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647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29"/>
                </a:solidFill>
              </a:defRPr>
            </a:pPr>
            <a:r>
              <a:rPr sz="1125" b="1">
                <a:solidFill>
                  <a:srgbClr val="FF7A2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6D199-D09D-4D40-B493-2477B8FA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6098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Recognised by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64E16-D3F8-4E67-BC48-B400D01C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" y="30289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79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A943F-2AEB-4529-8BE8-F79A46D2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543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29"/>
                </a:solidFill>
              </a:defRPr>
            </a:pPr>
            <a:r>
              <a:rPr sz="1125" b="1">
                <a:solidFill>
                  <a:srgbClr val="FF7A29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C6474-E26E-45F8-ADD3-52982995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5052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Explained in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86961-6EAC-4FE1-8CDD-7D680446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" y="392430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79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0D168-67F1-449B-9EED-ABBDF208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438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29"/>
                </a:solidFill>
              </a:defRPr>
            </a:pPr>
            <a:r>
              <a:rPr sz="1125" b="1">
                <a:solidFill>
                  <a:srgbClr val="FF7A29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591FC-55C7-4B31-8035-47D6656D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4005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Connected to impact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1800C-C065-4A56-ADAE-58CB0C2A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3911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E4"/>
                </a:solidFill>
              </a:defRPr>
            </a:pPr>
            <a:r>
              <a:rPr sz="1425" b="0">
                <a:solidFill>
                  <a:srgbClr val="C6D2E4"/>
                </a:solidFill>
              </a:rPr>
              <a:t>The new Partners menu makes the network visible before a visitor reads a single page.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1A4D8-C015-486E-8488-97F7FDBA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914400"/>
            <a:ext cx="5772150" cy="4857750"/>
          </a:xfrm>
          <a:prstGeom xmlns:a="http://schemas.openxmlformats.org/drawingml/2006/main" prst="roundRect">
            <a:avLst>
              <a:gd name="adj" fmla="val 5098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9525">
            <a:solidFill>
              <a:srgbClr val="17796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50df4ac4943b4"/>
          <a:srcRect xmlns:a="http://schemas.openxmlformats.org/drawingml/2006/main" l="12367" t="0" r="123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1104900"/>
            <a:ext cx="5391150" cy="4476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7D54B-CF3B-4534-BFB8-CB43B97F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542925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FBAAA"/>
                </a:solidFill>
              </a:defRPr>
            </a:pPr>
            <a:r>
              <a:rPr sz="825" b="1">
                <a:solidFill>
                  <a:srgbClr val="2FBAAA"/>
                </a:solidFill>
              </a:rPr>
              <a:t>DESKTOP PARTNER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01AD9-F555-4E7F-AAD3-045B798D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5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6D2E4"/>
                </a:solidFill>
              </a:defRPr>
            </a:pPr>
            <a:r>
              <a:rPr sz="975" b="1">
                <a:solidFill>
                  <a:srgbClr val="C6D2E4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803A3-98AD-446C-8AAD-2F9D3437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BAAA"/>
                </a:solidFill>
              </a:defRPr>
            </a:pPr>
            <a:r>
              <a:rPr sz="900" b="1">
                <a:solidFill>
                  <a:srgbClr val="2FBAAA"/>
                </a:solidFill>
              </a:rPr>
              <a:t>SECTION 02  /  ROLE ENTRY</a:t>
            </a:r>
          </a:p>
        </p:txBody>
      </p:sp>
    </p:spTree>
    <p:extLst>
      <p:ext uri="{BB962C8B-B14F-4D97-AF65-F5344CB8AC3E}">
        <p14:creationId xmlns:p14="http://schemas.microsoft.com/office/powerpoint/2010/main" val="1827112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A3135-D5E2-49D9-A30E-90E55C26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96F"/>
                </a:solidFill>
              </a:defRPr>
            </a:pPr>
            <a:r>
              <a:rPr sz="1050" b="1">
                <a:solidFill>
                  <a:srgbClr val="17796F"/>
                </a:solidFill>
              </a:rPr>
              <a:t>SECTION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43BF5-AF45-4D1D-9150-098F14FD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289"/>
                </a:solidFill>
              </a:defRPr>
            </a:pPr>
            <a:r>
              <a:rPr sz="1050" b="1">
                <a:solidFill>
                  <a:srgbClr val="647289"/>
                </a:solidFill>
              </a:rPr>
              <a:t>A FRONT DOOR FOR EVERY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FB109-B9EE-429A-991D-71C49A5B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847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112B"/>
                </a:solidFill>
              </a:defRPr>
            </a:pPr>
            <a:r>
              <a:rPr sz="3450" b="1">
                <a:solidFill>
                  <a:srgbClr val="00112B"/>
                </a:solidFill>
              </a:rPr>
              <a:t>Each page speaks the partner’s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BC18B-10EC-44B0-BEC6-FC7D3C15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4668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A6E"/>
                </a:solidFill>
              </a:defRPr>
            </a:pPr>
            <a:r>
              <a:rPr sz="1575" b="0">
                <a:solidFill>
                  <a:srgbClr val="4E5A6E"/>
                </a:solidFill>
              </a:rPr>
              <a:t>Not a generic profile. A role-specific journey from identity to impact.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9210E-3EBF-444A-A20B-9B096E43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152650"/>
            <a:ext cx="581025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E6D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fc9a12556432f"/>
          <a:srcRect xmlns:a="http://schemas.openxmlformats.org/drawingml/2006/main" l="0" t="6005" r="0" b="60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305050"/>
            <a:ext cx="5505450" cy="3028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50760-59CB-44E9-A715-6B118913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086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796F"/>
                </a:solidFill>
              </a:defRPr>
            </a:pPr>
            <a:r>
              <a:rPr sz="825" b="1">
                <a:solidFill>
                  <a:srgbClr val="17796F"/>
                </a:solidFill>
              </a:rPr>
              <a:t>LIVE ROLE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F8F29-47E6-4D46-8171-7370C1F9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2288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796F"/>
                </a:solidFill>
              </a:defRPr>
            </a:pPr>
            <a:r>
              <a:rPr sz="975" b="1">
                <a:solidFill>
                  <a:srgbClr val="17796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801C7-DD24-47AD-BF8D-4E2D8CE8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2190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112B"/>
                </a:solidFill>
              </a:defRPr>
            </a:pPr>
            <a:r>
              <a:rPr sz="1875" b="1">
                <a:solidFill>
                  <a:srgbClr val="00112B"/>
                </a:solidFill>
              </a:rPr>
              <a:t>Who you 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1C807-05E0-4222-993B-54A2BD70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255270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E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2CBA1-912B-44BB-87DD-8F4927B4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26479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796F"/>
                </a:solidFill>
              </a:defRPr>
            </a:pPr>
            <a:r>
              <a:rPr sz="1350" b="1">
                <a:solidFill>
                  <a:srgbClr val="17796F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25B77-F9A8-4DC9-9150-2C47A129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0861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796F"/>
                </a:solidFill>
              </a:defRPr>
            </a:pPr>
            <a:r>
              <a:rPr sz="975" b="1">
                <a:solidFill>
                  <a:srgbClr val="17796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D0664-F6BC-433F-9788-385B6C31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3048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112B"/>
                </a:solidFill>
              </a:defRPr>
            </a:pPr>
            <a:r>
              <a:rPr sz="1875" b="1">
                <a:solidFill>
                  <a:srgbClr val="00112B"/>
                </a:solidFill>
              </a:rPr>
              <a:t>What you can 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C329D-017C-426C-A160-617088D0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34099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E6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69CAA-6499-4121-91DB-A727EF76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3505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796F"/>
                </a:solidFill>
              </a:defRPr>
            </a:pPr>
            <a:r>
              <a:rPr sz="1350" b="1">
                <a:solidFill>
                  <a:srgbClr val="17796F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FB8C4-63EB-482E-A382-40B49729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943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796F"/>
                </a:solidFill>
              </a:defRPr>
            </a:pPr>
            <a:r>
              <a:rPr sz="975" b="1">
                <a:solidFill>
                  <a:srgbClr val="17796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6DFB7-8EBE-4EF6-B517-3B283E22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3905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112B"/>
                </a:solidFill>
              </a:defRPr>
            </a:pPr>
            <a:r>
              <a:rPr sz="1875" b="1">
                <a:solidFill>
                  <a:srgbClr val="00112B"/>
                </a:solidFill>
              </a:rPr>
              <a:t>How you create 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88DA2-97D4-4E5E-AF7F-341F6FBE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426720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E6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72503-5C87-437A-B509-4FD69F64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4362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796F"/>
                </a:solidFill>
              </a:defRPr>
            </a:pPr>
            <a:r>
              <a:rPr sz="1350" b="1">
                <a:solidFill>
                  <a:srgbClr val="17796F"/>
                </a:solidFill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32975-DA59-445B-BD32-B0CCB05F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800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25400"/>
                </a:solidFill>
              </a:defRPr>
            </a:pPr>
            <a:r>
              <a:rPr sz="975" b="1">
                <a:solidFill>
                  <a:srgbClr val="C25400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75550-B740-46CC-BB96-94BC9D75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4762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112B"/>
                </a:solidFill>
              </a:defRPr>
            </a:pPr>
            <a:r>
              <a:rPr sz="1875" b="1">
                <a:solidFill>
                  <a:srgbClr val="00112B"/>
                </a:solidFill>
              </a:rPr>
              <a:t>Where you 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143BC9-BE70-49F9-97E2-5BD7161D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53911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5400"/>
                </a:solidFill>
              </a:defRPr>
            </a:pPr>
            <a:r>
              <a:rPr sz="1350" b="1">
                <a:solidFill>
                  <a:srgbClr val="C25400"/>
                </a:solidFill>
              </a:rPr>
              <a:t>Every page closes with a custom organisational view—not a stock diagram.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CF766-9FF9-45B8-AB3C-7EDA6FCB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5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289"/>
                </a:solidFill>
              </a:defRPr>
            </a:pPr>
            <a:r>
              <a:rPr sz="975" b="1">
                <a:solidFill>
                  <a:srgbClr val="647289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EB543B-9C9B-44E9-8DE4-5BC8C956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SECTION 02  /  ROLE EXPERIENCE</a:t>
            </a:r>
          </a:p>
        </p:txBody>
      </p:sp>
    </p:spTree>
    <p:extLst>
      <p:ext uri="{BB962C8B-B14F-4D97-AF65-F5344CB8AC3E}">
        <p14:creationId xmlns:p14="http://schemas.microsoft.com/office/powerpoint/2010/main" val="10849616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1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CE954D-E1F3-4C7B-89A2-00C1E18A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BAAA"/>
                </a:solidFill>
              </a:defRPr>
            </a:pPr>
            <a:r>
              <a:rPr sz="1050" b="1">
                <a:solidFill>
                  <a:srgbClr val="2FBAAA"/>
                </a:solidFill>
              </a:rPr>
              <a:t>SECTION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0539D-0E30-48BD-8549-1C25C503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D2E4"/>
                </a:solidFill>
              </a:defRPr>
            </a:pPr>
            <a:r>
              <a:rPr sz="1050" b="1">
                <a:solidFill>
                  <a:srgbClr val="C6D2E4"/>
                </a:solidFill>
              </a:rPr>
              <a:t>THE SHARED IMPACT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6F6B9-F439-4BF3-87B6-B1B1387E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953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Impact becomes a chain, not a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85222-59F8-4E94-B10C-824FE8D5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466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6D2E4"/>
                </a:solidFill>
              </a:defRPr>
            </a:pPr>
            <a:r>
              <a:rPr sz="1575" b="0">
                <a:solidFill>
                  <a:srgbClr val="C6D2E4"/>
                </a:solidFill>
              </a:rPr>
              <a:t>Each partner page makes the route from contribution to outcome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7A5AC-1139-4E0F-8433-754C4186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2838450"/>
            <a:ext cx="716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A2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03F62-0C25-4C66-BF66-E2B8F22C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62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29"/>
          </a:solidFill>
          <a:ln xmlns:a="http://schemas.openxmlformats.org/drawingml/2006/main" w="9525">
            <a:solidFill>
              <a:srgbClr val="FF7A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5E88C-4ABD-4F4B-8430-3EED0075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62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29"/>
          </a:solidFill>
          <a:ln xmlns:a="http://schemas.openxmlformats.org/drawingml/2006/main" w="9525">
            <a:solidFill>
              <a:srgbClr val="FF7A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8ADF5-684A-4E05-BC96-081660F5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62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29"/>
          </a:solidFill>
          <a:ln xmlns:a="http://schemas.openxmlformats.org/drawingml/2006/main" w="9525">
            <a:solidFill>
              <a:srgbClr val="FF7A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8AC2A-B41A-4E57-A134-D4A801F3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5908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6D2E4"/>
                </a:solidFill>
              </a:defRPr>
            </a:pPr>
            <a:r>
              <a:rPr sz="1500" b="1">
                <a:solidFill>
                  <a:srgbClr val="C6D2E4"/>
                </a:solidFill>
              </a:rPr>
              <a:t>Capital + criteria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0ED76-9974-4485-BF5B-C7112104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2476500"/>
            <a:ext cx="26670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19050">
            <a:solidFill>
              <a:srgbClr val="FF7A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8126D-099B-4E82-AF34-3919C4FF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267652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7A29"/>
                </a:solidFill>
              </a:defRPr>
            </a:pPr>
            <a:r>
              <a:rPr sz="1725" b="1">
                <a:solidFill>
                  <a:srgbClr val="FF7A29"/>
                </a:solidFill>
              </a:rPr>
              <a:t>INVESTOR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789AD-3107-4099-836E-E5BFDB4D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25717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Suitable homes · delivery ·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6A39E-4FE7-4E0E-BCB0-73B4C152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4038600"/>
            <a:ext cx="716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79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0DB5F-9792-4803-AE33-D171E26F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62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AAA"/>
          </a:solidFill>
          <a:ln xmlns:a="http://schemas.openxmlformats.org/drawingml/2006/main" w="9525">
            <a:solidFill>
              <a:srgbClr val="2FBA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C3AB5-7703-44EA-83B3-4A840815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62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AAA"/>
          </a:solidFill>
          <a:ln xmlns:a="http://schemas.openxmlformats.org/drawingml/2006/main" w="9525">
            <a:solidFill>
              <a:srgbClr val="2FBA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AABFD-558D-4732-A89B-66FA0E5E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62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AAA"/>
          </a:solidFill>
          <a:ln xmlns:a="http://schemas.openxmlformats.org/drawingml/2006/main" w="9525">
            <a:solidFill>
              <a:srgbClr val="2FBA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73E77-4820-4DCE-8F83-8BBED588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790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6D2E4"/>
                </a:solidFill>
              </a:defRPr>
            </a:pPr>
            <a:r>
              <a:rPr sz="1500" b="1">
                <a:solidFill>
                  <a:srgbClr val="C6D2E4"/>
                </a:solidFill>
              </a:rPr>
              <a:t>Demand + matched property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0052E-8654-46F7-89FE-0983D153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3676650"/>
            <a:ext cx="26670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19050">
            <a:solidFill>
              <a:srgbClr val="2FBA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2303C-1070-4062-A9A4-7071D878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38766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BAAA"/>
                </a:solidFill>
              </a:defRPr>
            </a:pPr>
            <a:r>
              <a:rPr sz="1500" b="1">
                <a:solidFill>
                  <a:srgbClr val="2FBAAA"/>
                </a:solidFill>
              </a:rPr>
              <a:t>HOUSING ASSOCIATION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5B9A7-C38A-41E8-90FA-B8904978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3771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Lease · management · resident home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EC76A-A136-4C02-9DC6-A7C7A03D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5238750"/>
            <a:ext cx="716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79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773DE-8560-4D33-BB7C-F0A86B18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62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9427A-96A5-4242-AF9D-19987A86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62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2F8B6-D57D-4044-BD26-D39A7F5D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62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E081E6-BF70-43E7-9E8A-FF7CE9B5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991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6D2E4"/>
                </a:solidFill>
              </a:defRPr>
            </a:pPr>
            <a:r>
              <a:rPr sz="1500" b="1">
                <a:solidFill>
                  <a:srgbClr val="C6D2E4"/>
                </a:solidFill>
              </a:rPr>
              <a:t>Needs + preferences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4641B5-62E4-480C-B482-5143A4E0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876800"/>
            <a:ext cx="26670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375DCC-5780-433B-B898-DBC596E4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507682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RESIDENT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AC7C71-620F-44AD-8A99-5C082592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49720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Suitable home · support · outcomes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DE3883-032A-48AC-B068-3D625BE4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BAAA"/>
                </a:solidFill>
              </a:defRPr>
            </a:pPr>
            <a:r>
              <a:rPr sz="900" b="1">
                <a:solidFill>
                  <a:srgbClr val="2FBAAA"/>
                </a:solidFill>
              </a:rPr>
              <a:t>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46D5CC-74F6-4536-B353-F6875439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2095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BAAA"/>
                </a:solidFill>
              </a:defRPr>
            </a:pPr>
            <a:r>
              <a:rPr sz="900" b="1">
                <a:solidFill>
                  <a:srgbClr val="2FBAAA"/>
                </a:solidFill>
              </a:rPr>
              <a:t>ESSENTIAL ROLE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BF90D3-AB51-40F3-B6B2-81CFCFBB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0955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BAAA"/>
                </a:solidFill>
              </a:defRPr>
            </a:pPr>
            <a:r>
              <a:rPr sz="900" b="1">
                <a:solidFill>
                  <a:srgbClr val="2FBAAA"/>
                </a:solidFill>
              </a:rPr>
              <a:t>VISIBLE OUTCOME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3693E1-E952-42D8-ABC4-19C1A004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5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6D2E4"/>
                </a:solidFill>
              </a:defRPr>
            </a:pPr>
            <a:r>
              <a:rPr sz="975" b="1">
                <a:solidFill>
                  <a:srgbClr val="C6D2E4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F37B5A-AA61-4087-8B23-EBAE5BC3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BAAA"/>
                </a:solidFill>
              </a:defRPr>
            </a:pPr>
            <a:r>
              <a:rPr sz="900" b="1">
                <a:solidFill>
                  <a:srgbClr val="2FBAAA"/>
                </a:solidFill>
              </a:rPr>
              <a:t>SECTION 03  /  IMPACT CHAINS</a:t>
            </a:r>
          </a:p>
        </p:txBody>
      </p:sp>
    </p:spTree>
    <p:extLst>
      <p:ext uri="{BB962C8B-B14F-4D97-AF65-F5344CB8AC3E}">
        <p14:creationId xmlns:p14="http://schemas.microsoft.com/office/powerpoint/2010/main" val="1612851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E9AF39-3785-4078-8397-87FCAC56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96F"/>
                </a:solidFill>
              </a:defRPr>
            </a:pPr>
            <a:r>
              <a:rPr sz="1050" b="1">
                <a:solidFill>
                  <a:srgbClr val="17796F"/>
                </a:solidFill>
              </a:rPr>
              <a:t>SECTION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9774D-3D4A-47AD-AD14-36C44746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289"/>
                </a:solidFill>
              </a:defRPr>
            </a:pPr>
            <a:r>
              <a:rPr sz="1050" b="1">
                <a:solidFill>
                  <a:srgbClr val="647289"/>
                </a:solidFill>
              </a:rPr>
              <a:t>THE SHARED IMPACT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499B6-C9B5-4B2B-BB44-300E4886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572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112B"/>
                </a:solidFill>
              </a:defRPr>
            </a:pPr>
            <a:r>
              <a:rPr sz="3150" b="1">
                <a:solidFill>
                  <a:srgbClr val="00112B"/>
                </a:solidFill>
              </a:rPr>
              <a:t>The network grows. The person stays central.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4C428-0E0E-4AD3-A289-0803C830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4478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A6E"/>
                </a:solidFill>
              </a:defRPr>
            </a:pPr>
            <a:r>
              <a:rPr sz="1575" b="0">
                <a:solidFill>
                  <a:srgbClr val="4E5A6E"/>
                </a:solidFill>
              </a:rPr>
              <a:t>Nine specialist roles connect around one human purpose: a suitable home with joined-up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DC597-4E57-42CA-9478-488E71CC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2533650"/>
            <a:ext cx="2667000" cy="1409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7A2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4CC13-1827-4776-B2F5-4958EDDE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05400" y="2266950"/>
            <a:ext cx="99060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79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A717A-8131-482E-9D9A-D8059E54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2171700"/>
            <a:ext cx="876300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79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04FD1-81C9-45DF-9D42-7A6E0EE8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2362200"/>
            <a:ext cx="2990850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7A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A135A-E86D-44BC-BE8F-3FBABCC6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3105150"/>
            <a:ext cx="440055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79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B21FE-7D61-41B1-A808-C423F258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3943350"/>
            <a:ext cx="438150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79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E28F6-8FC6-44AA-8A53-89C3ADAD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3943350"/>
            <a:ext cx="2571750" cy="1695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7A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6D1E2-2030-458B-ABD6-A8AE3927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57900" y="3943350"/>
            <a:ext cx="3810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79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3A172-C6B5-4D3D-9368-0C1ECF9C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52850" y="3943350"/>
            <a:ext cx="234315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79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D1FE5-9DC0-472E-8CFE-FCF6A890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12B"/>
          </a:solidFill>
          <a:ln xmlns:a="http://schemas.openxmlformats.org/drawingml/2006/main" w="9525">
            <a:solidFill>
              <a:srgbClr val="FF7A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3745F-340D-4D74-82FF-9A05B6EC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2895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1C3D"/>
          </a:solidFill>
          <a:ln xmlns:a="http://schemas.openxmlformats.org/drawingml/2006/main" w="9525">
            <a:solidFill>
              <a:srgbClr val="1779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998A4-29A6-4CB5-B4C9-247EF9E3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676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RESIDENT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7BD03-6AF3-4A99-A5CF-1FED334F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40957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BAAA"/>
                </a:solidFill>
              </a:defRPr>
            </a:pPr>
            <a:r>
              <a:rPr sz="1125" b="1">
                <a:solidFill>
                  <a:srgbClr val="2FBAAA"/>
                </a:solidFill>
              </a:rPr>
              <a:t>home · support · outcomes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F71A1-DA89-4CB4-BE32-297F3DA0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2362200"/>
            <a:ext cx="13525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FE6D6"/>
          </a:solidFill>
          <a:ln xmlns:a="http://schemas.openxmlformats.org/drawingml/2006/main" w="9525">
            <a:solidFill>
              <a:srgbClr val="C254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71AF9-3BCB-44D4-A93B-05B5EE67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24860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12B"/>
                </a:solidFill>
              </a:defRPr>
            </a:pPr>
            <a:r>
              <a:rPr sz="1275" b="1">
                <a:solidFill>
                  <a:srgbClr val="00112B"/>
                </a:solidFill>
              </a:rPr>
              <a:t>Investor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F80F8-6D5C-4BAB-8A6B-B39F902D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2095500"/>
            <a:ext cx="13525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6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2CF98-0CBA-49D2-A7EA-7EC01D63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22193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12B"/>
                </a:solidFill>
              </a:defRPr>
            </a:pPr>
            <a:r>
              <a:rPr sz="1275" b="1">
                <a:solidFill>
                  <a:srgbClr val="00112B"/>
                </a:solidFill>
              </a:rPr>
              <a:t>Landlord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6B5217-5078-4E46-8D3D-1F66EB3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2000250"/>
            <a:ext cx="13525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6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673F2-CFC0-49A1-A6F5-E5EEED03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1240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12B"/>
                </a:solidFill>
              </a:defRPr>
            </a:pPr>
            <a:r>
              <a:rPr sz="1275" b="1">
                <a:solidFill>
                  <a:srgbClr val="00112B"/>
                </a:solidFill>
              </a:rPr>
              <a:t>Developer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75E123-0951-4F77-BED7-00D66861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190750"/>
            <a:ext cx="1714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FE6D6"/>
          </a:solidFill>
          <a:ln xmlns:a="http://schemas.openxmlformats.org/drawingml/2006/main" w="9525">
            <a:solidFill>
              <a:srgbClr val="C254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8726E-D376-47B9-8F5F-74DD659B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23145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112B"/>
                </a:solidFill>
              </a:defRPr>
            </a:pPr>
            <a:r>
              <a:rPr sz="1125" b="1">
                <a:solidFill>
                  <a:srgbClr val="00112B"/>
                </a:solidFill>
              </a:rPr>
              <a:t>Housing Association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47CD20-58F5-4EDA-A596-DC1351D9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2933700"/>
            <a:ext cx="13525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6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865813-9EA7-4931-B51F-AF1BEF16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30575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12B"/>
                </a:solidFill>
              </a:defRPr>
            </a:pPr>
            <a:r>
              <a:rPr sz="1275" b="1">
                <a:solidFill>
                  <a:srgbClr val="00112B"/>
                </a:solidFill>
              </a:rPr>
              <a:t>Local Authority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B927C1-D546-4AD8-9C55-205F4486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4686300"/>
            <a:ext cx="13525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6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7713C-C37D-4D6F-BE6D-71F6C8E7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48101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12B"/>
                </a:solidFill>
              </a:defRPr>
            </a:pPr>
            <a:r>
              <a:rPr sz="1275" b="1">
                <a:solidFill>
                  <a:srgbClr val="00112B"/>
                </a:solidFill>
              </a:rPr>
              <a:t>Care Provider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07506F-9A87-4CE7-9419-BBA63C80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5467350"/>
            <a:ext cx="1714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FE6D6"/>
          </a:solidFill>
          <a:ln xmlns:a="http://schemas.openxmlformats.org/drawingml/2006/main" w="9525">
            <a:solidFill>
              <a:srgbClr val="C254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B3693C-3A14-4378-9444-EFC6A1FB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5591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12B"/>
                </a:solidFill>
              </a:defRPr>
            </a:pPr>
            <a:r>
              <a:rPr sz="1275" b="1">
                <a:solidFill>
                  <a:srgbClr val="00112B"/>
                </a:solidFill>
              </a:rPr>
              <a:t>Support Provider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32B063-9F43-40DF-8C0D-E0FCCFE8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5581650"/>
            <a:ext cx="13525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6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E027B6-84F0-4975-8E2E-F92806F5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57054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12B"/>
                </a:solidFill>
              </a:defRPr>
            </a:pPr>
            <a:r>
              <a:rPr sz="1275" b="1">
                <a:solidFill>
                  <a:srgbClr val="00112B"/>
                </a:solidFill>
              </a:rPr>
              <a:t>Social Worker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E81D36-B8E5-47CC-9BF7-2741215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00" y="4876800"/>
            <a:ext cx="13525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6D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E02956-58E6-4C25-99C2-5CE0FE06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50006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112B"/>
                </a:solidFill>
              </a:defRPr>
            </a:pPr>
            <a:r>
              <a:rPr sz="1275" b="1">
                <a:solidFill>
                  <a:srgbClr val="00112B"/>
                </a:solidFill>
              </a:rPr>
              <a:t>Broker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8A15C3-EC0B-4A95-9884-3EFD2250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6076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25400"/>
                </a:solidFill>
              </a:defRPr>
            </a:pPr>
            <a:r>
              <a:rPr sz="1350" b="1">
                <a:solidFill>
                  <a:srgbClr val="C25400"/>
                </a:solidFill>
              </a:rPr>
              <a:t>Every partner remains essential because every connection carries a different responsibility.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D04A6C-22C3-4D74-88BF-5EC7AD99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5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289"/>
                </a:solidFill>
              </a:defRPr>
            </a:pPr>
            <a:r>
              <a:rPr sz="975" b="1">
                <a:solidFill>
                  <a:srgbClr val="647289"/>
                </a:solidFill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E67DD7-BB75-4EE0-9340-D8375C0E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SECTION 03  /  PERSON-CENTRED NETWORK</a:t>
            </a:r>
          </a:p>
        </p:txBody>
      </p:sp>
    </p:spTree>
    <p:extLst>
      <p:ext uri="{BB962C8B-B14F-4D97-AF65-F5344CB8AC3E}">
        <p14:creationId xmlns:p14="http://schemas.microsoft.com/office/powerpoint/2010/main" val="9317888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1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023123-D28A-42B7-B781-14159792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BAAA"/>
                </a:solidFill>
              </a:defRPr>
            </a:pPr>
            <a:r>
              <a:rPr sz="1050" b="1">
                <a:solidFill>
                  <a:srgbClr val="2FBAAA"/>
                </a:solidFill>
              </a:rPr>
              <a:t>SECTION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AB8B1-5281-405D-96B5-D13D8AFD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D2E4"/>
                </a:solidFill>
              </a:defRPr>
            </a:pPr>
            <a:r>
              <a:rPr sz="1050" b="1">
                <a:solidFill>
                  <a:srgbClr val="C6D2E4"/>
                </a:solidFill>
              </a:rPr>
              <a:t>PLATFORM ARCHITECTURE STORY  ·  1/4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24E9C-DD1D-4C7E-8A10-BFDB5DFB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Choose a role. Follow its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5ED5C-2347-4925-85EF-C45F35BF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4478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6D2E4"/>
                </a:solidFill>
              </a:defRPr>
            </a:pPr>
            <a:r>
              <a:rPr sz="1575" b="0">
                <a:solidFill>
                  <a:srgbClr val="C6D2E4"/>
                </a:solidFill>
              </a:rPr>
              <a:t>Pick any archetype—the platform gives it a clear entry, workflow and impact destination.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9BA59-94EC-4142-85CE-9DF628EB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495550" y="2619375"/>
            <a:ext cx="3600450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7A2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71D07-9694-4409-8D45-00DD68A1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495550" y="3571875"/>
            <a:ext cx="3600450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7A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59262-4F6C-4AC6-AD19-ABD34370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495550" y="4038600"/>
            <a:ext cx="360045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7A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09B90-6B5C-49A2-BA09-D4E2A34F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476750" y="4038600"/>
            <a:ext cx="1619250" cy="1400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BA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8D482-DC29-4E99-9974-B6B0B6B9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038600"/>
            <a:ext cx="304800" cy="1552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BA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B5B70-9192-44D9-91C9-12DDA0B1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038600"/>
            <a:ext cx="2209800" cy="1400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BA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9C518-452C-4DA9-B750-BEE28499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038600"/>
            <a:ext cx="4114800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BA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B73BC-0CF4-44D4-B001-2BF9186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3724275"/>
            <a:ext cx="436245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57AD4-7053-44BC-BE24-4C1516C0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619375"/>
            <a:ext cx="4362450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83C6F-1DDC-480C-8C70-4AD1A5A4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257425"/>
            <a:ext cx="260985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7A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FC995-DB96-48A0-9466-94A775EF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38450"/>
            <a:ext cx="2400300" cy="240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1C3D"/>
          </a:solidFill>
          <a:ln xmlns:a="http://schemas.openxmlformats.org/drawingml/2006/main" w="9525">
            <a:solidFill>
              <a:srgbClr val="2FBA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197D5-33C8-48C6-8568-8AF80AD6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1981200" cy="198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12B"/>
          </a:solidFill>
          <a:ln xmlns:a="http://schemas.openxmlformats.org/drawingml/2006/main" w="9525">
            <a:solidFill>
              <a:srgbClr val="143C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D2875-5AB5-456A-A0B5-2DF33BEA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35814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8BFC4-C971-491E-A3CE-88EAC7D7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39624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7A29"/>
                </a:solidFill>
              </a:defRPr>
            </a:pPr>
            <a:r>
              <a:rPr sz="2250" b="1">
                <a:solidFill>
                  <a:srgbClr val="FF7A29"/>
                </a:solidFill>
              </a:rPr>
              <a:t>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172CCC-741B-4317-AE6F-5BD73FCF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4457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BAAA"/>
                </a:solidFill>
              </a:defRPr>
            </a:pPr>
            <a:r>
              <a:rPr sz="1125" b="1">
                <a:solidFill>
                  <a:srgbClr val="2FBAAA"/>
                </a:solidFill>
              </a:rPr>
              <a:t>10 routes · one network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75E02-6856-4551-AFC6-AA79B85E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2381250"/>
            <a:ext cx="15621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19050">
            <a:solidFill>
              <a:srgbClr val="FF7A2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433B3-5635-46AB-B657-9670D73E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225" y="25336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7A29"/>
                </a:solidFill>
              </a:defRPr>
            </a:pPr>
            <a:r>
              <a:rPr sz="750" b="1">
                <a:solidFill>
                  <a:srgbClr val="FF7A29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07BF5-CB18-42F5-A414-0C486327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495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Investor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9A813-49CA-4669-9C1C-4A58BD32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3333750"/>
            <a:ext cx="15621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19050">
            <a:solidFill>
              <a:srgbClr val="FF7A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70BBB-F58F-4D25-9F44-05C75A71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225" y="3486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7A29"/>
                </a:solidFill>
              </a:defRPr>
            </a:pPr>
            <a:r>
              <a:rPr sz="750" b="1">
                <a:solidFill>
                  <a:srgbClr val="FF7A29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24009-CD51-4053-80C5-B79C6500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34480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Landlord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7428DF-BDCD-4AF2-88F7-2F7101CF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4286250"/>
            <a:ext cx="15621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19050">
            <a:solidFill>
              <a:srgbClr val="FF7A2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A35B4B-94D7-49D2-A1A8-47B1C8A4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225" y="44386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7A29"/>
                </a:solidFill>
              </a:defRPr>
            </a:pPr>
            <a:r>
              <a:rPr sz="750" b="1">
                <a:solidFill>
                  <a:srgbClr val="FF7A29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F8621D-FAD8-4289-ABBD-174DF662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400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Developer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2280DF-8A75-41AA-8242-B75C2F1A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5200650"/>
            <a:ext cx="17716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19050">
            <a:solidFill>
              <a:srgbClr val="2FBAA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12734-CE82-4D66-AE39-A2DF94C3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425" y="5353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BAAA"/>
                </a:solidFill>
              </a:defRPr>
            </a:pPr>
            <a:r>
              <a:rPr sz="750" b="1">
                <a:solidFill>
                  <a:srgbClr val="2FBAAA"/>
                </a:solidFill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813E4D-99AA-47DE-AA38-9C36418F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52768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Housing Association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83A59E-C43A-4C6C-B8C8-2C90BDDB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5353050"/>
            <a:ext cx="17716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19050">
            <a:solidFill>
              <a:srgbClr val="2FBAA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A06F0-E449-4DF7-994B-DA662F99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475" y="55054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BAAA"/>
                </a:solidFill>
              </a:defRPr>
            </a:pPr>
            <a:r>
              <a:rPr sz="750" b="1">
                <a:solidFill>
                  <a:srgbClr val="2FBAAA"/>
                </a:solidFill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D4A8C7-EF21-495F-9FEE-A297F5C3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54292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Local Authority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DD5ED6-8CF8-4A81-B55A-C5BA5A59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5200650"/>
            <a:ext cx="17716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19050">
            <a:solidFill>
              <a:srgbClr val="2FBAA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E8744B-2EC0-43BD-8B4F-2B348F9C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75" y="5353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BAAA"/>
                </a:solidFill>
              </a:defRPr>
            </a:pPr>
            <a:r>
              <a:rPr sz="750" b="1">
                <a:solidFill>
                  <a:srgbClr val="2FBAAA"/>
                </a:solidFill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6B808D-2AEB-451E-9B27-9A626C3A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52768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Care Provider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435901-C9EA-4E70-9DB2-03B2C993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4762500"/>
            <a:ext cx="17716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19050">
            <a:solidFill>
              <a:srgbClr val="2FBAA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613F03-834D-43D4-B3C8-8A77C04A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914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FBAAA"/>
                </a:solidFill>
              </a:defRPr>
            </a:pPr>
            <a:r>
              <a:rPr sz="750" b="1">
                <a:solidFill>
                  <a:srgbClr val="2FBAAA"/>
                </a:solidFill>
              </a:rPr>
              <a:t>07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97ED82-C055-4B9E-91BB-FE06C7B5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48387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Support Provider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B1D524-D8F1-4036-AEDA-00FBCBD0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7400" y="3486150"/>
            <a:ext cx="17716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ECE68C-FFE6-457A-AA90-5342E114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36385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7A9ABC-CE6C-4DB2-AAC6-4D9F63CD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35623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Social Worker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91BE5D-BBE6-481E-96BE-52E6BC2B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7400" y="2381250"/>
            <a:ext cx="15621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A36EC4-3C54-40B3-9D17-F898D615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25336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875B39-C67D-4754-A855-9912EFB2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2495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Broker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DAA801-858C-47D1-AEDA-A77B539F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019300"/>
            <a:ext cx="15621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19050">
            <a:solidFill>
              <a:srgbClr val="FF7A2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B8600C-19D4-4E57-A9CB-E07D9A66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0525" y="2171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7A29"/>
                </a:solidFill>
              </a:defRPr>
            </a:pPr>
            <a:r>
              <a:rPr sz="750" b="1">
                <a:solidFill>
                  <a:srgbClr val="FF7A29"/>
                </a:solidFill>
              </a:rPr>
              <a:t>10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B619C1-E6C1-49FE-89D3-354FFCF1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213360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Resident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32CB62-A879-4DA5-8C54-594FE9D7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20955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7A29"/>
                </a:solidFill>
              </a:defRPr>
            </a:pPr>
            <a:r>
              <a:rPr sz="825" b="1">
                <a:solidFill>
                  <a:srgbClr val="FF7A29"/>
                </a:solidFill>
              </a:rPr>
              <a:t>SUPPLY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9611E9-E8B6-4137-9FB5-87E82DA4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59817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BAAA"/>
                </a:solidFill>
              </a:defRPr>
            </a:pPr>
            <a:r>
              <a:rPr sz="825" b="1">
                <a:solidFill>
                  <a:srgbClr val="2FBAAA"/>
                </a:solidFill>
              </a:rPr>
              <a:t>DELIVERY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3D259C-71C9-4959-B86D-4A4DCFDD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1809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6D2E4"/>
                </a:solidFill>
              </a:defRPr>
            </a:pPr>
            <a:r>
              <a:rPr sz="825" b="1">
                <a:solidFill>
                  <a:srgbClr val="C6D2E4"/>
                </a:solidFill>
              </a:rPr>
              <a:t>PEOPLE + ACCESS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A17272-24FF-4EBF-AFE1-6AB400D2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5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6D2E4"/>
                </a:solidFill>
              </a:defRPr>
            </a:pPr>
            <a:r>
              <a:rPr sz="975" b="1">
                <a:solidFill>
                  <a:srgbClr val="C6D2E4"/>
                </a:solidFill>
              </a:rPr>
              <a:t>07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F66C88-CB5E-43D0-BC58-2C584A49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BAAA"/>
                </a:solidFill>
              </a:defRPr>
            </a:pPr>
            <a:r>
              <a:rPr sz="900" b="1">
                <a:solidFill>
                  <a:srgbClr val="2FBAAA"/>
                </a:solidFill>
              </a:rPr>
              <a:t>ARCHITECTURE STORY  01  →  02  →  03  →  04</a:t>
            </a:r>
          </a:p>
        </p:txBody>
      </p:sp>
    </p:spTree>
    <p:extLst>
      <p:ext uri="{BB962C8B-B14F-4D97-AF65-F5344CB8AC3E}">
        <p14:creationId xmlns:p14="http://schemas.microsoft.com/office/powerpoint/2010/main" val="2444346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68BEC3-B961-4526-8411-EE8507C5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96F"/>
                </a:solidFill>
              </a:defRPr>
            </a:pPr>
            <a:r>
              <a:rPr sz="1050" b="1">
                <a:solidFill>
                  <a:srgbClr val="17796F"/>
                </a:solidFill>
              </a:rPr>
              <a:t>SECTION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772D3-ECDE-459C-A764-6A2B4155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289"/>
                </a:solidFill>
              </a:defRPr>
            </a:pPr>
            <a:r>
              <a:rPr sz="1050" b="1">
                <a:solidFill>
                  <a:srgbClr val="647289"/>
                </a:solidFill>
              </a:rPr>
              <a:t>PLATFORM ARCHITECTURE STORY  ·  2/4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7131A-3335-4E26-9122-DC18B860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112B"/>
                </a:solidFill>
              </a:defRPr>
            </a:pPr>
            <a:r>
              <a:rPr sz="3600" b="1">
                <a:solidFill>
                  <a:srgbClr val="00112B"/>
                </a:solidFill>
              </a:rPr>
              <a:t>One role in. Three outcomes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402E2-039B-4426-B2CC-2AE17582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447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A6E"/>
                </a:solidFill>
              </a:defRPr>
            </a:pPr>
            <a:r>
              <a:rPr sz="1575" b="0">
                <a:solidFill>
                  <a:srgbClr val="4E5A6E"/>
                </a:solidFill>
              </a:rPr>
              <a:t>The architecture changes its logic for every archetype—not just the title.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6567A-1CF5-4798-BC12-0D0C539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90850" y="3676650"/>
            <a:ext cx="1733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79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1DBFD-33BA-456F-B092-A5647990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29450" y="3676650"/>
            <a:ext cx="1866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254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ADB59-5E19-4173-8E6A-1C2BF6CD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3448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796F"/>
                </a:solidFill>
              </a:defRPr>
            </a:pPr>
            <a:r>
              <a:rPr sz="2100" b="1">
                <a:solidFill>
                  <a:srgbClr val="17796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4BEF8-C9F4-454B-9781-AC2664A0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3448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25400"/>
                </a:solidFill>
              </a:defRPr>
            </a:pPr>
            <a:r>
              <a:rPr sz="2100" b="1">
                <a:solidFill>
                  <a:srgbClr val="C25400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16537-38FE-4C77-B1BD-48CAC3B3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286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B07FD-36A9-477F-9551-2D1EFC5F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724150"/>
            <a:ext cx="21526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B849E-EC7D-4355-80B3-2899584D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9432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112B"/>
                </a:solidFill>
              </a:defRPr>
            </a:pPr>
            <a:r>
              <a:rPr sz="1500" b="1">
                <a:solidFill>
                  <a:srgbClr val="00112B"/>
                </a:solidFill>
              </a:rPr>
              <a:t>Housing demand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1D98F-18AF-4FAA-BFA3-BFC0E8BA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867150"/>
            <a:ext cx="21526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E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9D989-C2E2-4CFB-98B6-81CDBC48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0862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112B"/>
                </a:solidFill>
              </a:defRPr>
            </a:pPr>
            <a:r>
              <a:rPr sz="1500" b="1">
                <a:solidFill>
                  <a:srgbClr val="00112B"/>
                </a:solidFill>
              </a:rPr>
              <a:t>Matched property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93B45-2918-4ED5-A150-AAA8F00E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286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5400"/>
                </a:solidFill>
              </a:defRPr>
            </a:pPr>
            <a:r>
              <a:rPr sz="900" b="1">
                <a:solidFill>
                  <a:srgbClr val="C25400"/>
                </a:solidFill>
              </a:rPr>
              <a:t>SELECTED ARCHETYPE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0A5A5-5295-4FB7-817C-059A077F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2724150"/>
            <a:ext cx="2305050" cy="1847850"/>
          </a:xfrm>
          <a:prstGeom xmlns:a="http://schemas.openxmlformats.org/drawingml/2006/main" prst="roundRect">
            <a:avLst>
              <a:gd name="adj" fmla="val 14433"/>
            </a:avLst>
          </a:prstGeom>
          <a:solidFill xmlns:a="http://schemas.openxmlformats.org/drawingml/2006/main">
            <a:srgbClr val="00112B"/>
          </a:solidFill>
          <a:ln xmlns:a="http://schemas.openxmlformats.org/drawingml/2006/main" w="28575">
            <a:solidFill>
              <a:srgbClr val="17796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E4CAB-50B5-4FC3-9DA9-9D828543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29"/>
                </a:solidFill>
              </a:defRPr>
            </a:pPr>
            <a:r>
              <a:rPr sz="1050" b="1">
                <a:solidFill>
                  <a:srgbClr val="FF7A29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79B51-089E-45F2-BC0D-D5897CE5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33337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Housing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66DBF-A61B-44D8-8824-39D3300A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37147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BAAA"/>
                </a:solidFill>
              </a:defRPr>
            </a:pPr>
            <a:r>
              <a:rPr sz="2325" b="1">
                <a:solidFill>
                  <a:srgbClr val="2FBAAA"/>
                </a:solidFill>
              </a:rPr>
              <a:t>Association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273A1-562B-45D2-A0D9-45DA15BA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4210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6D2E4"/>
                </a:solidFill>
              </a:defRPr>
            </a:pPr>
            <a:r>
              <a:rPr sz="1050" b="1">
                <a:solidFill>
                  <a:srgbClr val="C6D2E4"/>
                </a:solidFill>
              </a:rPr>
              <a:t>One connected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CD32D-89F9-4AA4-B25F-E01F1946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2286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VISIBLE OUTCOMES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76B75-6732-4D92-8229-7D5EFE9B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2628900"/>
            <a:ext cx="2381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9525">
            <a:solidFill>
              <a:srgbClr val="143C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BC44DE-D5CF-4D76-883A-01CB920C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2867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BAAA"/>
                </a:solidFill>
              </a:defRPr>
            </a:pPr>
            <a:r>
              <a:rPr sz="825" b="1">
                <a:solidFill>
                  <a:srgbClr val="2FBAAA"/>
                </a:solidFill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CF887-3F7B-4037-B5D3-2629E755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0" y="2819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Lease &amp; tenancy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1E81D1-5CAE-4343-B29F-CDBF12E9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3619500"/>
            <a:ext cx="2381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9525">
            <a:solidFill>
              <a:srgbClr val="143C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14E5BA-FEF4-4434-A858-CFEE7B77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3857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BAAA"/>
                </a:solidFill>
              </a:defRPr>
            </a:pPr>
            <a:r>
              <a:rPr sz="825" b="1">
                <a:solidFill>
                  <a:srgbClr val="2FBAAA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1F4259-B3D1-468F-8DEF-041BC45C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0" y="3810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Housing management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D454D-026A-47FE-A9FB-92960B93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4610100"/>
            <a:ext cx="2381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25400"/>
          </a:solidFill>
          <a:ln xmlns:a="http://schemas.openxmlformats.org/drawingml/2006/main" w="9525">
            <a:solidFill>
              <a:srgbClr val="C254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95B91E-1BBE-4ACA-802E-E2BCDE13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48482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7F1E6"/>
                </a:solidFill>
              </a:defRPr>
            </a:pPr>
            <a:r>
              <a:rPr sz="825" b="1">
                <a:solidFill>
                  <a:srgbClr val="F7F1E6"/>
                </a:solidFill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3FDC8D-FB0F-4E46-B78C-8B11F073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0" y="480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Resident home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B77CAC-D372-4E50-816C-0BB3E9A4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5219700"/>
            <a:ext cx="712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25400"/>
                </a:solidFill>
              </a:defRPr>
            </a:pPr>
            <a:r>
              <a:rPr sz="1650" b="1">
                <a:solidFill>
                  <a:srgbClr val="C25400"/>
                </a:solidFill>
              </a:rPr>
              <a:t>9 more archetypes carry their own inputs, responsibilities and impact outcomes.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1D2B27-9C4C-4271-A7C8-61A20C4F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7531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5A6E"/>
                </a:solidFill>
              </a:defRPr>
            </a:pPr>
            <a:r>
              <a:rPr sz="975" b="1">
                <a:solidFill>
                  <a:srgbClr val="4E5A6E"/>
                </a:solidFill>
              </a:rPr>
              <a:t>Investor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CF0C44-2383-49EE-978B-EC783147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57531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5A6E"/>
                </a:solidFill>
              </a:defRPr>
            </a:pPr>
            <a:r>
              <a:rPr sz="975" b="1">
                <a:solidFill>
                  <a:srgbClr val="4E5A6E"/>
                </a:solidFill>
              </a:rPr>
              <a:t>Landlord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7BDC36-8E8E-491E-870C-14B77E38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57531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5A6E"/>
                </a:solidFill>
              </a:defRPr>
            </a:pPr>
            <a:r>
              <a:rPr sz="975" b="1">
                <a:solidFill>
                  <a:srgbClr val="4E5A6E"/>
                </a:solidFill>
              </a:rPr>
              <a:t>Developer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A48EC5-BA21-4E8E-BB58-E1B230C2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57531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5A6E"/>
                </a:solidFill>
              </a:defRPr>
            </a:pPr>
            <a:r>
              <a:rPr sz="975" b="1">
                <a:solidFill>
                  <a:srgbClr val="4E5A6E"/>
                </a:solidFill>
              </a:rPr>
              <a:t>Local Authority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CF8585-8373-4F93-94A3-8024DC7C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57531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5A6E"/>
                </a:solidFill>
              </a:defRPr>
            </a:pPr>
            <a:r>
              <a:rPr sz="975" b="1">
                <a:solidFill>
                  <a:srgbClr val="4E5A6E"/>
                </a:solidFill>
              </a:rPr>
              <a:t>Care Provider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3BA86C-9CEF-4983-8F12-ABF164E9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60198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5A6E"/>
                </a:solidFill>
              </a:defRPr>
            </a:pPr>
            <a:r>
              <a:rPr sz="975" b="1">
                <a:solidFill>
                  <a:srgbClr val="4E5A6E"/>
                </a:solidFill>
              </a:rPr>
              <a:t>Support Provider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33AF25-FA94-4C25-97F9-64C0042A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60198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5A6E"/>
                </a:solidFill>
              </a:defRPr>
            </a:pPr>
            <a:r>
              <a:rPr sz="975" b="1">
                <a:solidFill>
                  <a:srgbClr val="4E5A6E"/>
                </a:solidFill>
              </a:rPr>
              <a:t>Social Worker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87A188-9738-421E-89D5-E3F8F069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60198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5A6E"/>
                </a:solidFill>
              </a:defRPr>
            </a:pPr>
            <a:r>
              <a:rPr sz="975" b="1">
                <a:solidFill>
                  <a:srgbClr val="4E5A6E"/>
                </a:solidFill>
              </a:rPr>
              <a:t>Broker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BEAA54-858B-4712-85C8-F4C8290E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60198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5A6E"/>
                </a:solidFill>
              </a:defRPr>
            </a:pPr>
            <a:r>
              <a:rPr sz="975" b="1">
                <a:solidFill>
                  <a:srgbClr val="4E5A6E"/>
                </a:solidFill>
              </a:rPr>
              <a:t>Resident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87E77B-CAFF-4102-9B62-0CD99F3D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5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289"/>
                </a:solidFill>
              </a:defRPr>
            </a:pPr>
            <a:r>
              <a:rPr sz="975" b="1">
                <a:solidFill>
                  <a:srgbClr val="647289"/>
                </a:solidFill>
              </a:rPr>
              <a:t>08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07A6C4-216E-4067-909C-07A2D0AA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796F"/>
                </a:solidFill>
              </a:defRPr>
            </a:pPr>
            <a:r>
              <a:rPr sz="900" b="1">
                <a:solidFill>
                  <a:srgbClr val="17796F"/>
                </a:solidFill>
              </a:rPr>
              <a:t>ARCHITECTURE STORY  01  →  02  →  03  →  04</a:t>
            </a:r>
          </a:p>
        </p:txBody>
      </p:sp>
    </p:spTree>
    <p:extLst>
      <p:ext uri="{BB962C8B-B14F-4D97-AF65-F5344CB8AC3E}">
        <p14:creationId xmlns:p14="http://schemas.microsoft.com/office/powerpoint/2010/main" val="217297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1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2E6176-F278-4306-B5B0-971FA8E8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BAAA"/>
                </a:solidFill>
              </a:defRPr>
            </a:pPr>
            <a:r>
              <a:rPr sz="1050" b="1">
                <a:solidFill>
                  <a:srgbClr val="2FBAAA"/>
                </a:solidFill>
              </a:rPr>
              <a:t>SECTION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4CFC3-8089-4F39-8D69-BE9B989D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D2E4"/>
                </a:solidFill>
              </a:defRPr>
            </a:pPr>
            <a:r>
              <a:rPr sz="1050" b="1">
                <a:solidFill>
                  <a:srgbClr val="C6D2E4"/>
                </a:solidFill>
              </a:rPr>
              <a:t>PLATFORM ARCHITECTURE STORY  ·  3/4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BAF71-2DCD-4D54-9096-C35E759E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76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partner network is discoverable everywhere.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07E5C-7893-4FBB-AAC6-62B78622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4478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6D2E4"/>
                </a:solidFill>
              </a:defRPr>
            </a:pPr>
            <a:r>
              <a:rPr sz="1575" b="0">
                <a:solidFill>
                  <a:srgbClr val="C6D2E4"/>
                </a:solidFill>
              </a:rPr>
              <a:t>Integration turns ten standalone pages into one connected site experience.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FE50A-CA4F-4187-9F14-250EF39F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152650"/>
            <a:ext cx="44767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9525">
            <a:solidFill>
              <a:srgbClr val="143C6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f8ccad17c462f"/>
          <a:srcRect xmlns:a="http://schemas.openxmlformats.org/drawingml/2006/main" l="0" t="769" r="0" b="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286000"/>
            <a:ext cx="4210050" cy="2590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E4A5C-28D2-4969-9AC2-262957D4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6863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BAAA"/>
                </a:solidFill>
              </a:defRPr>
            </a:pPr>
            <a:r>
              <a:rPr sz="825" b="1">
                <a:solidFill>
                  <a:srgbClr val="2FBAAA"/>
                </a:solidFill>
              </a:rPr>
              <a:t>HEADER ENTRY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E5D11-3B7C-4841-AB6D-119BDF86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2152650"/>
            <a:ext cx="44767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9525">
            <a:solidFill>
              <a:srgbClr val="143C6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efe8109984ff1"/>
          <a:srcRect xmlns:a="http://schemas.openxmlformats.org/drawingml/2006/main" l="0" t="790" r="0" b="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2286000"/>
            <a:ext cx="4210050" cy="2590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4E22D-6788-47F6-B00D-7C343317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4686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BAAA"/>
                </a:solidFill>
              </a:defRPr>
            </a:pPr>
            <a:r>
              <a:rPr sz="825" b="1">
                <a:solidFill>
                  <a:srgbClr val="2FBAAA"/>
                </a:solidFill>
              </a:rPr>
              <a:t>FOOTER DIRECTORY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B61B5-203B-4DF6-B8E8-7907AC82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81600" y="3581400"/>
            <a:ext cx="533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BA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76AD7-99BB-446D-A60D-2C122A3C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3581400"/>
            <a:ext cx="552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BA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C064D-2FC0-4979-86CC-6A6C6B51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146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29"/>
          </a:solidFill>
          <a:ln xmlns:a="http://schemas.openxmlformats.org/drawingml/2006/main" w="9525">
            <a:solidFill>
              <a:srgbClr val="FF7A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A757D-15A5-4942-AEAC-247DD18D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3086100"/>
            <a:ext cx="83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0112B"/>
                </a:solidFill>
              </a:defRPr>
            </a:pPr>
            <a:r>
              <a:rPr sz="3900" b="1">
                <a:solidFill>
                  <a:srgbClr val="00112B"/>
                </a:solidFill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F5D2D-1368-4938-A01D-BFE3AA0B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37147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112B"/>
                </a:solidFill>
              </a:defRPr>
            </a:pPr>
            <a:r>
              <a:rPr sz="900" b="1">
                <a:solidFill>
                  <a:srgbClr val="00112B"/>
                </a:solidFill>
              </a:rPr>
              <a:t>LIVE ROUTES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7CD65-AFC6-4C95-B2CA-18F3C3F0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52600" y="5619750"/>
            <a:ext cx="8686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79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AC7EE-FF85-46BE-9531-53A3396C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05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AAA"/>
          </a:solidFill>
          <a:ln xmlns:a="http://schemas.openxmlformats.org/drawingml/2006/main" w="9525">
            <a:solidFill>
              <a:srgbClr val="2FBA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F40BB-EA89-4166-BFD1-4EB59AB5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58483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HEADER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13016-C13B-4BD5-A821-E06470E3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505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29"/>
          </a:solidFill>
          <a:ln xmlns:a="http://schemas.openxmlformats.org/drawingml/2006/main" w="9525">
            <a:solidFill>
              <a:srgbClr val="FF7A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BEAE1-0122-43A0-AE1F-13056DCF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58483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DIRECT URL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AED4A-C147-485C-AB70-3C736987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05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AAA"/>
          </a:solidFill>
          <a:ln xmlns:a="http://schemas.openxmlformats.org/drawingml/2006/main" w="9525">
            <a:solidFill>
              <a:srgbClr val="2FBA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642B8-20EF-4219-84B2-66B8BE12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58483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SITEMAP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A2F44-D75E-47D7-9ECD-0BDD468E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505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BAAA"/>
          </a:solidFill>
          <a:ln xmlns:a="http://schemas.openxmlformats.org/drawingml/2006/main" w="9525">
            <a:solidFill>
              <a:srgbClr val="2FBA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7119F-0386-49B7-AEC9-BAAC1592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58483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FOOTER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DA8449-21D6-46BB-AA18-D8EB51D6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5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6D2E4"/>
                </a:solidFill>
              </a:defRPr>
            </a:pPr>
            <a:r>
              <a:rPr sz="975" b="1">
                <a:solidFill>
                  <a:srgbClr val="C6D2E4"/>
                </a:solidFill>
              </a:rPr>
              <a:t>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D3862A-3717-4632-A315-D35FAE67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BAAA"/>
                </a:solidFill>
              </a:defRPr>
            </a:pPr>
            <a:r>
              <a:rPr sz="900" b="1">
                <a:solidFill>
                  <a:srgbClr val="2FBAAA"/>
                </a:solidFill>
              </a:rPr>
              <a:t>ARCHITECTURE STORY  01  →  02  →  03  →  04</a:t>
            </a:r>
          </a:p>
        </p:txBody>
      </p:sp>
    </p:spTree>
    <p:extLst>
      <p:ext uri="{BB962C8B-B14F-4D97-AF65-F5344CB8AC3E}">
        <p14:creationId xmlns:p14="http://schemas.microsoft.com/office/powerpoint/2010/main" val="14736232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C19AB-192D-46A3-8857-02E84846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1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96F"/>
                </a:solidFill>
              </a:defRPr>
            </a:pPr>
            <a:r>
              <a:rPr sz="1050" b="1">
                <a:solidFill>
                  <a:srgbClr val="17796F"/>
                </a:solidFill>
              </a:rPr>
              <a:t>SECTION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1E678-7918-4835-8DE0-1EA20E12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289"/>
                </a:solidFill>
              </a:defRPr>
            </a:pPr>
            <a:r>
              <a:rPr sz="1050" b="1">
                <a:solidFill>
                  <a:srgbClr val="647289"/>
                </a:solidFill>
              </a:rPr>
              <a:t>PLATFORM ARCHITECTURE STORY  ·  4/4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0F030-CE80-4F68-99F9-06410BF5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8382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112B"/>
                </a:solidFill>
              </a:defRPr>
            </a:pPr>
            <a:r>
              <a:rPr sz="3450" b="1">
                <a:solidFill>
                  <a:srgbClr val="00112B"/>
                </a:solidFill>
              </a:rPr>
              <a:t>The experience holds together across devices.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253D1-97CF-4F47-BEF6-94817471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4097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E5A6E"/>
                </a:solidFill>
              </a:defRPr>
            </a:pPr>
            <a:r>
              <a:rPr sz="1575" b="0">
                <a:solidFill>
                  <a:srgbClr val="4E5A6E"/>
                </a:solidFill>
              </a:rPr>
              <a:t>The launch was verified as a connected journey—not just ten pages that render.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9CC94-70B8-4E70-8894-EF014D20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266950"/>
            <a:ext cx="5810250" cy="2990850"/>
          </a:xfrm>
          <a:prstGeom xmlns:a="http://schemas.openxmlformats.org/drawingml/2006/main" prst="roundRect">
            <a:avLst>
              <a:gd name="adj" fmla="val 5732"/>
            </a:avLst>
          </a:prstGeom>
          <a:solidFill xmlns:a="http://schemas.openxmlformats.org/drawingml/2006/main">
            <a:srgbClr val="00112B"/>
          </a:solidFill>
          <a:ln xmlns:a="http://schemas.openxmlformats.org/drawingml/2006/main" w="28575">
            <a:solidFill>
              <a:srgbClr val="143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e86cf269f4fd5"/>
          <a:srcRect xmlns:a="http://schemas.openxmlformats.org/drawingml/2006/main" l="0" t="11271" r="0" b="11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438400"/>
            <a:ext cx="5467350" cy="2647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91735-13AC-4774-AB6D-814E1B26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52578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B63D1-3233-4391-AC1A-2635CDA0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5410200"/>
            <a:ext cx="2705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41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DFE89-8520-40B6-9801-FFBC9E01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387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BAAA"/>
                </a:solidFill>
              </a:defRPr>
            </a:pPr>
            <a:r>
              <a:rPr sz="825" b="1">
                <a:solidFill>
                  <a:srgbClr val="2FBAAA"/>
                </a:solidFill>
              </a:rPr>
              <a:t>DESKTOP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A6FDE-2BF7-4DCA-A583-6FEF642D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2076450"/>
            <a:ext cx="1790700" cy="36385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0112B"/>
          </a:solidFill>
          <a:ln xmlns:a="http://schemas.openxmlformats.org/drawingml/2006/main" w="28575">
            <a:solidFill>
              <a:srgbClr val="143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bd3c4d1e94e09"/>
          <a:srcRect xmlns:a="http://schemas.openxmlformats.org/drawingml/2006/main" l="0" t="2347" r="0" b="2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2305050"/>
            <a:ext cx="1524000" cy="3143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58BA6-8C1D-43B2-B01E-6063AC08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86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C6B"/>
          </a:solidFill>
          <a:ln xmlns:a="http://schemas.openxmlformats.org/drawingml/2006/main" w="9525">
            <a:solidFill>
              <a:srgbClr val="143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1BF8A-24A1-4950-8BDE-3112A3FF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23241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650" b="1">
                <a:solidFill>
                  <a:srgbClr val="C25400"/>
                </a:solidFill>
              </a:defRPr>
            </a:pPr>
            <a:r>
              <a:rPr sz="4650" b="1">
                <a:solidFill>
                  <a:srgbClr val="C25400"/>
                </a:solidFill>
              </a:rPr>
              <a:t>10/10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9DE2C-4AB9-4706-9FE5-9C144603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30289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00112B"/>
                </a:solidFill>
              </a:defRPr>
            </a:pPr>
            <a:r>
              <a:rPr sz="1425" b="1">
                <a:solidFill>
                  <a:srgbClr val="00112B"/>
                </a:solidFill>
              </a:rPr>
              <a:t>partner routes 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AD1E7-081C-44B6-811B-1369B6C5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1150" y="3562350"/>
            <a:ext cx="2133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79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821FD-3FA9-4F23-88D4-711A222C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38290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796F"/>
                </a:solidFill>
              </a:defRPr>
            </a:pPr>
            <a:r>
              <a:rPr sz="975" b="1">
                <a:solidFill>
                  <a:srgbClr val="17796F"/>
                </a:solidFill>
              </a:rPr>
              <a:t>DESKTOP + MOBILE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17041-3C75-46E4-923A-DE981704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41529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00112B"/>
                </a:solidFill>
              </a:defRPr>
            </a:pPr>
            <a:r>
              <a:rPr sz="2250" b="1">
                <a:solidFill>
                  <a:srgbClr val="00112B"/>
                </a:solidFill>
              </a:rPr>
              <a:t>QA passed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422C4-B017-4363-B254-11FC40B2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800" y="468630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4E5A6E"/>
                </a:solidFill>
              </a:defRPr>
            </a:pPr>
            <a:r>
              <a:rPr sz="1275" b="0">
                <a:solidFill>
                  <a:srgbClr val="4E5A6E"/>
                </a:solidFill>
              </a:rPr>
              <a:t>Navigation · page flow · diagrams · partner directory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97E8C-C2CE-4299-AC2D-0A3597C6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829300"/>
            <a:ext cx="10629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58A42-F61B-4076-80F5-24983EB8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9817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112B"/>
                </a:solidFill>
              </a:defRPr>
            </a:pPr>
            <a:r>
              <a:rPr sz="1725" b="1">
                <a:solidFill>
                  <a:srgbClr val="00112B"/>
                </a:solidFill>
              </a:rPr>
              <a:t>The architecture is ready. Now every partner can see where they belong.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19E06-3ACF-43D4-9E6E-21A48E17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572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796F"/>
                </a:solidFill>
              </a:defRPr>
            </a:pPr>
            <a:r>
              <a:rPr sz="825" b="1">
                <a:solidFill>
                  <a:srgbClr val="17796F"/>
                </a:solidFill>
              </a:rPr>
              <a:t>ARCHITECTURE STORY  ·  COMPLETE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59E3B-CBB9-4526-BCD5-C4AC585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8550" y="65722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289"/>
                </a:solidFill>
              </a:defRPr>
            </a:pPr>
            <a:r>
              <a:rPr sz="825" b="1">
                <a:solidFill>
                  <a:srgbClr val="64728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1275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2026-08-12T14:05:50.9890000Z</dcterms:created>
  <dcterms:modified xsi:type="dcterms:W3CDTF">2026-08-12T14:05:50.9890000Z</dcterms:modified>
</coreProperties>
</file>